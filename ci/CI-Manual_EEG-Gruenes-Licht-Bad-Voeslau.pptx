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image" Target="../media/image-6-1.png"/><Relationship Id="rId8" Type="http://schemas.openxmlformats.org/officeDocument/2006/relationships/image" Target="../media/image-6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5120640" cy="18288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4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5486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52160" y="10972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Regionale Energiegemeinschaft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52160" y="150876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erzeugten Strom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 nutzen.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852160" y="365760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Dieses Manual definiert das visuelle und sprachliche Erscheinungsbild der Erneuerbare-Energie-Gemeinschaft Grünes Licht Bad Vöslau. Es ist Grundlage für alle Kommunikationsmittel – online wie offline.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52160" y="548640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5486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69480" y="548640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69480" y="5486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Farben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86800" y="548640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0" y="5486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Typografie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104120" y="548640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104120" y="5486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Anwendung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52160" y="6263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dieses Manual enthält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417320" y="2011680"/>
            <a:ext cx="0" cy="685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1965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 &amp; Werte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377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Mission, Tonalität und Positionierung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18745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086600" y="2011680"/>
            <a:ext cx="0" cy="685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1965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69480" y="2377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Anwendung, Schutzraum, Don'ts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1417320" y="3063240"/>
            <a:ext cx="0" cy="685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3017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Farbpalette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4290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Primär-, Sekundär- und Akzentfarben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9260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7086600" y="3063240"/>
            <a:ext cx="0" cy="685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3017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Typografie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69480" y="34290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Schriftarten und Hierarchie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1417320" y="4114800"/>
            <a:ext cx="0" cy="685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4069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Bildsprache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4480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Motive, Stil und Bildauswahl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9776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7086600" y="4114800"/>
            <a:ext cx="0" cy="685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4069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 &amp; Print-Elemente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69480" y="4480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Karten, Anwendungsbeispiele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0292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1417320" y="5166360"/>
            <a:ext cx="0" cy="685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00200" y="5120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00200" y="5532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Wording, Do's &amp; Don'ts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50292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200" dirty="0"/>
          </a:p>
        </p:txBody>
      </p:sp>
      <p:sp>
        <p:nvSpPr>
          <p:cNvPr id="33" name="Shape 31"/>
          <p:cNvSpPr/>
          <p:nvPr/>
        </p:nvSpPr>
        <p:spPr>
          <a:xfrm>
            <a:off x="7086600" y="5166360"/>
            <a:ext cx="0" cy="6858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5120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69480" y="5532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hilft bei Fragen weiter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 · CI-Manual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MARKE &amp; WERTE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Wofür wir stehen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3891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Mission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„Lokal erzeugten Strom gemeinsam nutzen.“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40690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verbinden Menschen, die regional erzeugte erneuerbare Energie nutzen, mit Menschen, die in Bad Vöslau und Umgebung saubere Energie erzeugen. Transparent, fair und unbürokratisch.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78308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210312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0936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Energie für eine lokale Gemeinschaft.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0" y="178308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235440" y="210312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Ökologisch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3544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Erneuerbare Energie aus der Region.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402336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434340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5074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 Abläufe für Teilnahme &amp; Abrechnung.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61120" y="402336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35440" y="434340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Gemeinschaft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35440" y="5074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Ort vernetzt, gemeinsam gestalten.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 · CI-Manual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MARKE &amp; WERTE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Tonalität – frisch &amp; optimistisch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Sprache der EEG Grünes Licht ist klar, freundlich und ermutigend. Sie zeigt: die Energiewende ist machbar, sie passiert vor Ort, und jede:r kann mitmachen.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697480" cy="16916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Konkrete Worte statt Fachjargon.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2926080"/>
            <a:ext cx="2697480" cy="16916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39312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reden mit Nachbar:innen, nicht mit Kund:innen.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2784" y="2926080"/>
            <a:ext cx="2697480" cy="16916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1384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Optimistisch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01384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Lösungen, nicht Probleme.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34856" y="2926080"/>
            <a:ext cx="2697480" cy="16916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Sachlich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63456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Zahlen und Bedingungen offen kommuniziert.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klingt's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548640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34924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„Strom aus der Nachbarschaft – ohne Gebühr, mit klarer Abrechnung.“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937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lieber nicht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5349240"/>
            <a:ext cx="52120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53492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„Marktbasierte Energieverteilung im Rahmen einer EEG-Konstruktion gem. EAG.“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 · CI-Manual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LOGO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Bildmarke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9436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377440"/>
            <a:ext cx="283464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4864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5897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Bildmarke (Primärlogo)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6656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das Logo erzählt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76656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Glühbirne steht für Licht und Energie – die strahlenden Linien für die Verteilung in die Gemeinschaft. Das frische Grün signalisiert Erneuerbarkeit, Wachstum und das berühmte „grüne Licht“ – also: Geht los, mach mit.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66560" y="441655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0" y="4297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Glühbirne mit Strahlen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66560" y="496519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0880" y="4846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95360" y="4846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Primärgrün #16A34A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766560" y="551383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0" y="5394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595360" y="5394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Flach, freundlich, modern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66560" y="606247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40880" y="5943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595360" y="5943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(web), SVG empfohlen für Print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 · CI-Manual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LOGO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Schutzraum, Mindestgröße &amp; Don'ts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Schutzraum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576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606040"/>
            <a:ext cx="2560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dash"/>
          </a:ln>
        </p:spPr>
      </p:sp>
      <p:pic>
        <p:nvPicPr>
          <p:cNvPr id="7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301752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029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Abstand: ½ Höhe der Glühbirne in alle Richtungen.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48056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Mindestgröße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80560" y="2194560"/>
            <a:ext cx="338328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1" descr="/sessions/beautiful-epic-clarke/mnt/outpu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60320"/>
            <a:ext cx="1097280" cy="1097280"/>
          </a:xfrm>
          <a:prstGeom prst="rect">
            <a:avLst/>
          </a:prstGeom>
        </p:spPr>
      </p:pic>
      <p:pic>
        <p:nvPicPr>
          <p:cNvPr id="12" name="Image 2" descr="/sessions/beautiful-epic-clarke/mnt/outpu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200400"/>
            <a:ext cx="640080" cy="640080"/>
          </a:xfrm>
          <a:prstGeom prst="rect">
            <a:avLst/>
          </a:prstGeom>
        </p:spPr>
      </p:pic>
      <p:pic>
        <p:nvPicPr>
          <p:cNvPr id="13" name="Image 3" descr="/sessions/beautiful-epic-clarke/mnt/outputs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2044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480560" y="4434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12 mm · Bildschirm: 32 px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480560" y="50292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 dieser Größe wird das Logo unleserlich.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813816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Farbvarianten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8138160" y="2194560"/>
            <a:ext cx="1691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/sessions/beautiful-epic-clarke/mnt/outpu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377440"/>
            <a:ext cx="685800" cy="6858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138160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Weiß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10012680" y="2194560"/>
            <a:ext cx="1691640" cy="12801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21" name="Image 5" descr="/sessions/beautiful-epic-clarke/mnt/outputs/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0" y="2377440"/>
            <a:ext cx="685800" cy="6858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012680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Primärgrün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8138160" y="3611880"/>
            <a:ext cx="169164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4" name="Image 6" descr="/sessions/beautiful-epic-clarke/mnt/outputs/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0" y="3794760"/>
            <a:ext cx="685800" cy="6858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138160" y="45262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Dunkel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10012680" y="3611880"/>
            <a:ext cx="169164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27" name="Image 7" descr="/sessions/beautiful-epic-clarke/mnt/outputs/log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0" y="3794760"/>
            <a:ext cx="685800" cy="6858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0012680" y="45262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Hellgrün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548640" y="5532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Bitte nicht</a:t>
            </a:r>
            <a:endParaRPr lang="en-US" sz="1400" dirty="0"/>
          </a:p>
        </p:txBody>
      </p:sp>
      <p:sp>
        <p:nvSpPr>
          <p:cNvPr id="30" name="Shape 20"/>
          <p:cNvSpPr/>
          <p:nvPr/>
        </p:nvSpPr>
        <p:spPr>
          <a:xfrm>
            <a:off x="548640" y="5989320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822960" y="58704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Verzerren oder unproportional skalieren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3410712" y="5989320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3685032" y="58704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Farbe ändern oder Effekte hinzufügen</a:t>
            </a:r>
            <a:endParaRPr lang="en-US" sz="1100" dirty="0"/>
          </a:p>
        </p:txBody>
      </p:sp>
      <p:sp>
        <p:nvSpPr>
          <p:cNvPr id="34" name="Shape 24"/>
          <p:cNvSpPr/>
          <p:nvPr/>
        </p:nvSpPr>
        <p:spPr>
          <a:xfrm>
            <a:off x="6272784" y="5989320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547104" y="58704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unruhigem Hintergrund platzieren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9134856" y="5989320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9409176" y="58704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anderen Logos umrahmen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 · CI-Manual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FARBPALETTE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Primärfarben – Grünes Licht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Grünes-Licht-Grün ist der Kern der Marke. Es wird sparsam, aber konsequent eingesetzt: für Logo, primäre Buttons, Highlights und Akzente.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520440" cy="2194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Grünlicht-Grün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#16A34A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937760"/>
            <a:ext cx="352044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5029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· 163 · 74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5394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5669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Hauptfarbe Logo, Akzente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2697480"/>
            <a:ext cx="3520440" cy="21945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Aktiongrün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177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#15803D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4937760"/>
            <a:ext cx="352044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40680" y="5029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· 128 · 61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5394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5669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Buttons, Links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38160" y="2697480"/>
            <a:ext cx="3520440" cy="21945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Tiefgrün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1248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FC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#166534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4937760"/>
            <a:ext cx="352044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235440" y="5029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· 101 · 52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66760" y="5394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66760" y="5669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Button-Hover, dunkle Flächen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 · CI-Manual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FARBPALETTE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Neutral- &amp; Akzentpalette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Slate-Töne strukturieren Texte, Trennlinien und Hintergründe. Hellgrün-Töne dienen als sanfte Flächen und Hervorhebungen.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· SLATE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73736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900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#0F172A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2834640"/>
            <a:ext cx="1737360" cy="1051560"/>
          </a:xfrm>
          <a:prstGeom prst="rect">
            <a:avLst/>
          </a:prstGeom>
          <a:solidFill>
            <a:srgbClr val="3341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700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41448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#334155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41448" y="4480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dunkel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34256" y="2834640"/>
            <a:ext cx="1737360" cy="1051560"/>
          </a:xfrm>
          <a:prstGeom prst="rect">
            <a:avLst/>
          </a:prstGeom>
          <a:solidFill>
            <a:srgbClr val="47556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34256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600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34256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#475569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34256" y="4480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Fließtext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27064" y="2834640"/>
            <a:ext cx="1737360" cy="1051560"/>
          </a:xfrm>
          <a:prstGeom prst="rect">
            <a:avLst/>
          </a:prstGeom>
          <a:solidFill>
            <a:srgbClr val="94A3B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400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27064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#94A3B8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27064" y="4480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Meta-Text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119872" y="2834640"/>
            <a:ext cx="1737360" cy="10515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19872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200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19872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#E2E8F0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19872" y="4480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Rahmen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012680" y="2834640"/>
            <a:ext cx="17373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1268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50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1268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#F8FAFC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12680" y="4480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Hintergrund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983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AKZENT · HELLGRÜN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303520"/>
            <a:ext cx="352044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394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50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86000" y="5394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#F0FDF4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5779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Sektion-BG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43400" y="5303520"/>
            <a:ext cx="352044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6280" y="5394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100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80760" y="5394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#DCFCE7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26280" y="5779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Tags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38160" y="5303520"/>
            <a:ext cx="3520440" cy="914400"/>
          </a:xfrm>
          <a:prstGeom prst="rect">
            <a:avLst/>
          </a:prstGeom>
          <a:solidFill>
            <a:srgbClr val="BBF7D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21040" y="5394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200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75520" y="5394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#BBF7D0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21040" y="5779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Rahmen Akzent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 · CI-Manual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FARBPALETTE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Farbverteilung – 60 / 30 / 10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ruhige, lesbare Gestaltung entsteht durch klare Dominanzen. Grün setzt Akzente – nicht Flächen.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858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WEISS / SLATE 50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Hintergründe und Flächen. Sorgt für Klarheit und Ruhe.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2606040"/>
            <a:ext cx="3931920" cy="2240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90956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900 / 600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09560" y="36118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&amp; Lesetext. Trägt die Information.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4937760"/>
            <a:ext cx="3931920" cy="13258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4983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90956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 · AKZENT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09560" y="5760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CTAs, Highlights, Marken-Akzente.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43484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organisiert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Energie für eine lokale Gemeinschaft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50749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einfach ist der Einstieg in die EEG – ohne Mitgliedsbeitrag, mit klarer monatlicher Abrechnung.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576072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760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Mitmachen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 · CI-Manual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TYPOGRAFIE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Schriftfamilie &amp; Hierarchie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0" cy="4663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Hausschrift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Bb Cc 1234567890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ist eine moderne, gut lesbare Grotesk. Für Office-Anwendungen ohne Inter wird Calibri als Fallback eingesetzt.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Calibri (Office) · system-ui (Web)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94960" y="1783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2103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pt · Bold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0" y="18745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erzeugten Strom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394960" y="2532888"/>
            <a:ext cx="6492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25694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288950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pt · Bold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75120" y="266090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mitmachen?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394960" y="3319272"/>
            <a:ext cx="6492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33558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36758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pt · Semibold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344728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einfach ist der Einstieg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94960" y="4105656"/>
            <a:ext cx="6492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4142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44622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pt · Regular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75120" y="42336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unterstützen Mitglieder beim Einstieg.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94960" y="4892040"/>
            <a:ext cx="6492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49286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52486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pt · Regular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75120" y="5020056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Monatliche Abrechnung, keine Mitgliedsgebühr.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94960" y="5678424"/>
            <a:ext cx="6492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5715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Meta/Tag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6035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pt · Bold UC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75120" y="58064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REGIONALE EEG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 · CI-Manual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BILDSPRACHE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Motive &amp; Bildauswahl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 zeigen Menschen aus Bad Vöslau und Umgebung, lokale Energie-Infrastruktur und Natur. Authentisch, hell und bodenständig.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Empfohlen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48640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25526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108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Sonnenlicht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3108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Helle, freundliche Lichtstimmung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48640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403250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3886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Erkennbare Orte und Landschaften aus Bad Vöslau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548640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80974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663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4663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Nachbarschaft, Familie, Hausdach, Handwerk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394960"/>
            <a:ext cx="548640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58698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5440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5440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PV-Module, Wechselrichter, Smart Meter – im Alltag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Bitte vermeiden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3063240"/>
            <a:ext cx="54864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255264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108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Stockfotos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95360" y="3108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Gestellte Business-Handschütteln, generische Familien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3840480"/>
            <a:ext cx="54864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4032504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Cool-Tech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95360" y="3886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Übertrieben futuristische Server- oder Roboter-Optik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4617720"/>
            <a:ext cx="54864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4809744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4663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Düstere Stimmung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95360" y="4663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Apokalypse, schmelzende Eisberge, Düsterheit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5394960"/>
            <a:ext cx="54864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7960" y="5586984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5440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Konzern-Look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95360" y="5440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Glashochhäuser, Big-Energy-Bilderwelten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 · CI-Manual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UI- &amp; PRINT-ELEMENTE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Karten &amp; Tags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920240" cy="54864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94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mitmachen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Green 700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97480" y="2194560"/>
            <a:ext cx="1920240" cy="54864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2194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mitmachen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2788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· Green 800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2194560"/>
            <a:ext cx="219456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funktioniert's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· Outline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/ Badges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0" y="2194560"/>
            <a:ext cx="1325880" cy="4572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15400" y="2194560"/>
            <a:ext cx="1325880" cy="4572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15400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332720" y="2194560"/>
            <a:ext cx="1325880" cy="45720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0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ct/kWh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/ Feature-Card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20624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Verbrauch verstehen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Energiebewusstsein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" y="51206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Verbrauchsmuster besser erkennen, Einsparpotenziale sichtbar machen und Energie im Alltag bewusster nutzen.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Schritt-Indikator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3931920"/>
            <a:ext cx="704088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4617720"/>
            <a:ext cx="5943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4434840"/>
            <a:ext cx="411480" cy="411480"/>
          </a:xfrm>
          <a:prstGeom prst="ellipse">
            <a:avLst/>
          </a:prstGeom>
          <a:solidFill>
            <a:srgbClr val="16A34A"/>
          </a:solidFill>
          <a:ln w="50800">
            <a:solidFill>
              <a:srgbClr val="F8FA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0" y="4937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95160" y="4434840"/>
            <a:ext cx="411480" cy="411480"/>
          </a:xfrm>
          <a:prstGeom prst="ellipse">
            <a:avLst/>
          </a:prstGeom>
          <a:solidFill>
            <a:srgbClr val="16A34A"/>
          </a:solidFill>
          <a:ln w="50800">
            <a:solidFill>
              <a:srgbClr val="F8FA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37960" y="4937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961120" y="4434840"/>
            <a:ext cx="411480" cy="411480"/>
          </a:xfrm>
          <a:prstGeom prst="ellipse">
            <a:avLst/>
          </a:prstGeom>
          <a:solidFill>
            <a:srgbClr val="16A34A"/>
          </a:solidFill>
          <a:ln w="50800">
            <a:solidFill>
              <a:srgbClr val="F8FA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03920" y="4937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Unterlagen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927080" y="4434840"/>
            <a:ext cx="411480" cy="411480"/>
          </a:xfrm>
          <a:prstGeom prst="ellipse">
            <a:avLst/>
          </a:prstGeom>
          <a:solidFill>
            <a:srgbClr val="16A34A"/>
          </a:solidFill>
          <a:ln w="50800">
            <a:solidFill>
              <a:srgbClr val="F8FA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2708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469880" y="4937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Mitmachen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0" y="562356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klare Schritte führen Interessierte vom ersten Kontakt bis zur Mitgliedschaft.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 · CI-Manual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SPRACHE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– so reden wir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schreiben in der Wir-Form, kurz, aktiv und ohne Floskeln. Fachbegriffe erklären wir bei der ersten Verwendung.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48640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06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Sagen wir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2606040"/>
            <a:ext cx="548640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2606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Lieber nicht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486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108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Mitmachen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0" y="325526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3108960"/>
            <a:ext cx="5486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108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Beitrittsantrag stellen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11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 aus der Region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15000" y="375818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61188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611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regionaler Stromliefervertrag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5486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114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ct/kWh netto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15000" y="426110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4114800"/>
            <a:ext cx="5486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114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Vertragspreis lt. Konditionen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617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Jederzeit ein- und aussteigen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15000" y="476402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461772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4617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Vertragsbindung mit Kündigungsfrist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5486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120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helfen beim Einstieg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15000" y="526694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5120640"/>
            <a:ext cx="5486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5120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Onboarding-Prozess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62356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623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 und Umgebung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715000" y="576986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562356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5623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geografisch zugelassene Region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 · CI-Manual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6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600200" y="1097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Identity Manual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„Geht los, mach mit.“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640080" y="3657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Dieses Manual ist ein lebendiges Dokument. Wenn du eine neue Anwendung gestaltest – einen Flyer, eine E-Mail, ein Schild – halte dich an die hier definierten Bausteine. Bei Unsicherheit fragen.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5029200"/>
            <a:ext cx="10972800" cy="11887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166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Markenverwaltung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5440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 · Bad Vöslau, Österreich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0" y="5532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· Mai 2026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0" y="5806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Erstellt auf Basis der Webseite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 · CI-Manual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69848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EEG Grünes Licht Bad Vöslau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Identity – EEG Grünes Licht Bad Vöslau</dc:title>
  <dc:subject>PptxGenJS Presentation</dc:subject>
  <dc:creator>EEG Grünes Licht Bad Vöslau</dc:creator>
  <cp:lastModifiedBy>EEG Grünes Licht Bad Vöslau</cp:lastModifiedBy>
  <cp:revision>1</cp:revision>
  <dcterms:created xsi:type="dcterms:W3CDTF">2026-05-11T12:49:50Z</dcterms:created>
  <dcterms:modified xsi:type="dcterms:W3CDTF">2026-05-11T12:49:50Z</dcterms:modified>
</cp:coreProperties>
</file>